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2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drawings/drawing3.xml" ContentType="application/vnd.openxmlformats-officedocument.drawingml.chartshape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drawings/drawing4.xml" ContentType="application/vnd.openxmlformats-officedocument.drawingml.chartshapes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97" r:id="rId4"/>
    <p:sldId id="267" r:id="rId5"/>
    <p:sldId id="261" r:id="rId6"/>
    <p:sldId id="269" r:id="rId7"/>
    <p:sldId id="270" r:id="rId8"/>
    <p:sldId id="271" r:id="rId9"/>
    <p:sldId id="272" r:id="rId10"/>
    <p:sldId id="273" r:id="rId11"/>
    <p:sldId id="292" r:id="rId12"/>
    <p:sldId id="298" r:id="rId13"/>
    <p:sldId id="299" r:id="rId14"/>
    <p:sldId id="300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9359" autoAdjust="0"/>
  </p:normalViewPr>
  <p:slideViewPr>
    <p:cSldViewPr>
      <p:cViewPr varScale="1">
        <p:scale>
          <a:sx n="110" d="100"/>
          <a:sy n="110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2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chartUserShapes" Target="../drawings/drawing3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chartUserShapes" Target="../drawings/drawing4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8727009055731396E-2"/>
          <c:y val="0.13420731029885569"/>
          <c:w val="0.86749521920732209"/>
          <c:h val="0.5835446249851711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E277-4DB2-8D0F-EE1B5921170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E277-4DB2-8D0F-EE1B5921170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A16D-4347-AE65-549E0613298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E277-4DB2-8D0F-EE1B5921170D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6D-4347-AE65-549E061329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6D-4347-AE65-549E06132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0832584795542813"/>
          <c:y val="0.64445499464277978"/>
          <c:w val="0.52113979061428162"/>
          <c:h val="0.25302108616933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Конец года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377777173694648"/>
          <c:y val="0.15921317966766796"/>
          <c:w val="0.87500029547544367"/>
          <c:h val="0.55630689881417783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 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6B52-45BB-8152-1F5582AA7A2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13A0-4891-87E9-E4104F04545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13A0-4891-87E9-E4104F04545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6B52-45BB-8152-1F5582AA7A2F}"/>
              </c:ext>
            </c:extLst>
          </c:dPt>
          <c:dLbls>
            <c:dLbl>
              <c:idx val="1"/>
              <c:layout>
                <c:manualLayout>
                  <c:x val="-0.17751337321857857"/>
                  <c:y val="3.261016807099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39974990958453"/>
                      <c:h val="0.180051388052399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3A0-4891-87E9-E4104F045456}"/>
                </c:ext>
              </c:extLst>
            </c:dLbl>
            <c:dLbl>
              <c:idx val="2"/>
              <c:layout>
                <c:manualLayout>
                  <c:x val="0.31167370292189761"/>
                  <c:y val="-0.114011942142880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14213550740224"/>
                      <c:h val="0.180051388052399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3A0-4891-87E9-E4104F0454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 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0.39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A0-4891-87E9-E4104F045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7794990863899283"/>
          <c:y val="0.67886953860472521"/>
          <c:w val="0.48537810219668265"/>
          <c:h val="0.26584362743762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0417962818946045E-2"/>
          <c:y val="0.14931411898155833"/>
          <c:w val="0.94878403533394251"/>
          <c:h val="0.54211638646642357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328-4B06-93CA-9AAA470A8D2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328-4B06-93CA-9AAA470A8D2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52E8-4F33-827D-656C0A45E7B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0328-4B06-93CA-9AAA470A8D2E}"/>
              </c:ext>
            </c:extLst>
          </c:dPt>
          <c:dLbls>
            <c:dLbl>
              <c:idx val="2"/>
              <c:layout>
                <c:manualLayout>
                  <c:x val="4.9603863459615594E-2"/>
                  <c:y val="-0.2545229710608898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66934229530053"/>
                      <c:h val="0.1043111744804635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52E8-4F33-827D-656C0A45E7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 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E8-4F33-827D-656C0A45E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4623855451246157"/>
          <c:y val="0.68838619047948557"/>
          <c:w val="0.43771004610598818"/>
          <c:h val="0.218237272419018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320060591558203"/>
          <c:y val="0.1778080453409156"/>
          <c:w val="0.896799394084418"/>
          <c:h val="0.61517017155506359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30AB-4625-AC6C-6CECC624276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CEDE-445B-A107-39EBFABE19A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CEDE-445B-A107-39EBFABE19A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30AB-4625-AC6C-6CECC6242764}"/>
              </c:ext>
            </c:extLst>
          </c:dPt>
          <c:dLbls>
            <c:dLbl>
              <c:idx val="1"/>
              <c:layout>
                <c:manualLayout>
                  <c:x val="-0.14677669361523926"/>
                  <c:y val="5.4478989752495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DE-445B-A107-39EBFABE19AC}"/>
                </c:ext>
              </c:extLst>
            </c:dLbl>
            <c:dLbl>
              <c:idx val="2"/>
              <c:layout>
                <c:manualLayout>
                  <c:x val="0.24250777691367625"/>
                  <c:y val="-0.1797208652176402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046161537606931"/>
                      <c:h val="9.3154256435700244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CEDE-445B-A107-39EBFABE19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0.31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DE-445B-A107-39EBFABE1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32177434344901851"/>
          <c:y val="0.70777150163158598"/>
          <c:w val="0.40393535333680874"/>
          <c:h val="0.222552143961223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12490182086614172"/>
          <c:w val="1"/>
          <c:h val="0.55384448818897636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7092-419E-B5B6-62D3DC8ED9F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7092-419E-B5B6-62D3DC8ED9F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BEAB-463A-8F2B-708BA32ABA9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7092-419E-B5B6-62D3DC8ED9FC}"/>
              </c:ext>
            </c:extLst>
          </c:dPt>
          <c:dLbls>
            <c:dLbl>
              <c:idx val="2"/>
              <c:layout>
                <c:manualLayout>
                  <c:x val="3.5405457594658754E-2"/>
                  <c:y val="-0.2980098425196850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62509985662961"/>
                      <c:h val="0.192468749999999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EAB-463A-8F2B-708BA32ABA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 formatCode="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B-463A-8F2B-708BA32AB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3314770581046551"/>
          <c:y val="0.66730019685039366"/>
          <c:w val="0.55050166383629329"/>
          <c:h val="0.276449803149606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291796281894604"/>
          <c:y val="0.12496210629921262"/>
          <c:w val="0.89704616153760697"/>
          <c:h val="0.5828152066929134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C20F-47F0-9C18-F89038406AE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9FE4-431B-A77F-ED7664CA8DE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9FE4-431B-A77F-ED7664CA8DE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C20F-47F0-9C18-F89038406AE0}"/>
              </c:ext>
            </c:extLst>
          </c:dPt>
          <c:dLbls>
            <c:dLbl>
              <c:idx val="1"/>
              <c:layout>
                <c:manualLayout>
                  <c:x val="-0.25543414736325593"/>
                  <c:y val="-5.92637795275590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E4-431B-A77F-ED7664CA8DE2}"/>
                </c:ext>
              </c:extLst>
            </c:dLbl>
            <c:dLbl>
              <c:idx val="2"/>
              <c:layout>
                <c:manualLayout>
                  <c:x val="0.24754873879754097"/>
                  <c:y val="1.32054625984251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FE4-431B-A77F-ED7664CA8D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0.54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4-431B-A77F-ED7664CA8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32161964642817464"/>
          <c:y val="0.72980019685039377"/>
          <c:w val="0.43759663278154282"/>
          <c:h val="0.25144980314960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9.5234498031496057E-2"/>
          <c:w val="1"/>
          <c:h val="0.60030413385826775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DF1-4479-B6FF-BC26FE81510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DF1-4479-B6FF-BC26FE81510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FBE0-42F1-8D53-C7BA1F182A4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0DF1-4479-B6FF-BC26FE81510E}"/>
              </c:ext>
            </c:extLst>
          </c:dPt>
          <c:dLbls>
            <c:dLbl>
              <c:idx val="2"/>
              <c:layout>
                <c:manualLayout>
                  <c:x val="-1.4986048558707193E-2"/>
                  <c:y val="-0.3384680118110235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70946533006299"/>
                      <c:h val="0.192468749999999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BE0-42F1-8D53-C7BA1F182A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 formatCode="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0-42F1-8D53-C7BA1F182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17662424972723828"/>
          <c:y val="0.6235501968503937"/>
          <c:w val="0.61509547372229301"/>
          <c:h val="0.285824803149606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329414388900301E-2"/>
          <c:y val="0.18115182086614171"/>
          <c:w val="0.9056705856110997"/>
          <c:h val="0.49759448818897639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7E3-43A9-BC61-B4AD98A5DDD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913B-41E2-BD1F-89B5E74C4B5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913B-41E2-BD1F-89B5E74C4B5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07E3-43A9-BC61-B4AD98A5DDDF}"/>
              </c:ext>
            </c:extLst>
          </c:dPt>
          <c:dLbls>
            <c:dLbl>
              <c:idx val="1"/>
              <c:layout>
                <c:manualLayout>
                  <c:x val="-9.7345063433265988E-2"/>
                  <c:y val="7.19028051181102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44615816462073"/>
                      <c:h val="7.06562500000000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13B-41E2-BD1F-89B5E74C4B51}"/>
                </c:ext>
              </c:extLst>
            </c:dLbl>
            <c:dLbl>
              <c:idx val="2"/>
              <c:layout>
                <c:manualLayout>
                  <c:x val="0.1931566132500589"/>
                  <c:y val="-0.165730068897637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218856045835"/>
                      <c:h val="5.503124999999999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913B-41E2-BD1F-89B5E74C4B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0.31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B-41E2-BD1F-89B5E74C4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6749897243622833"/>
          <c:y val="0.71417519685039355"/>
          <c:w val="0.49683115623480584"/>
          <c:h val="0.26707480314960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1483724030663256E-2"/>
          <c:y val="0.16984682879607377"/>
          <c:w val="0.97851627596933655"/>
          <c:h val="0.60088250026733903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7637-40D1-90EC-27E9B502CE5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7637-40D1-90EC-27E9B502CE5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F047-400B-9FB5-37C3D9A3A0D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7637-40D1-90EC-27E9B502CE5D}"/>
              </c:ext>
            </c:extLst>
          </c:dPt>
          <c:dLbls>
            <c:dLbl>
              <c:idx val="2"/>
              <c:layout>
                <c:manualLayout>
                  <c:x val="1.2699816299480915E-2"/>
                  <c:y val="-0.2835951379938502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00206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83842622137589"/>
                      <c:h val="0.1834304665207089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F047-400B-9FB5-37C3D9A3A0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47-400B-9FB5-37C3D9A3A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2704873877062756"/>
          <c:y val="0.69781494884912887"/>
          <c:w val="0.53359768811217356"/>
          <c:h val="0.269424292395751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377777173694648"/>
          <c:y val="0.18144660433070867"/>
          <c:w val="0.88250537174356514"/>
          <c:h val="0.58509621062992123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 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25F5-4CFB-B64F-BD617CB4BDD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3147-475E-9D2C-27E4A5DD342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3147-475E-9D2C-27E4A5DD342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25F5-4CFB-B64F-BD617CB4BDD0}"/>
              </c:ext>
            </c:extLst>
          </c:dPt>
          <c:dLbls>
            <c:dLbl>
              <c:idx val="1"/>
              <c:layout>
                <c:manualLayout>
                  <c:x val="-0.17848253267367456"/>
                  <c:y val="6.11872539370079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022335579734641"/>
                      <c:h val="0.1818437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47-475E-9D2C-27E4A5DD342A}"/>
                </c:ext>
              </c:extLst>
            </c:dLbl>
            <c:dLbl>
              <c:idx val="2"/>
              <c:layout>
                <c:manualLayout>
                  <c:x val="0.19472097662907428"/>
                  <c:y val="-0.2031968503937008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5912818197505254"/>
                      <c:h val="0.1818437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3147-475E-9D2C-27E4A5DD34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0.39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7-475E-9D2C-27E4A5DD34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7320870967055672"/>
          <c:y val="0.69542519685039383"/>
          <c:w val="0.46859243771968601"/>
          <c:h val="0.292074803149606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17296226657667213"/>
          <c:w val="1"/>
          <c:h val="0.61769955038444091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4CB9-4898-8E76-38A3C4E8F16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4CB9-4898-8E76-38A3C4E8F16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ED0E-4D60-B3B7-4D4BD288563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4CB9-4898-8E76-38A3C4E8F16D}"/>
              </c:ext>
            </c:extLst>
          </c:dPt>
          <c:dLbls>
            <c:dLbl>
              <c:idx val="2"/>
              <c:layout>
                <c:manualLayout>
                  <c:x val="5.6541711414781065E-2"/>
                  <c:y val="-0.2146927686533317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256557913318272"/>
                      <c:h val="7.259536920972654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ED0E-4D60-B3B7-4D4BD28856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E-4D60-B3B7-4D4BD2885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6312909676702589"/>
          <c:y val="0.69254277418871002"/>
          <c:w val="0.51293467392511938"/>
          <c:h val="0.290449329862115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3351521349008516E-2"/>
          <c:y val="0.11826249703445306"/>
          <c:w val="0.98664840451247071"/>
          <c:h val="0.69226958798667926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32BC-4053-8EB8-26935C180BDB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85E8-4E49-A954-5FBBE42C4FF1}"/>
              </c:ext>
            </c:extLst>
          </c:dPt>
          <c:dPt>
            <c:idx val="2"/>
            <c:bubble3D val="0"/>
            <c:explosion val="1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85E8-4E49-A954-5FBBE42C4FF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32BC-4053-8EB8-26935C180BDB}"/>
              </c:ext>
            </c:extLst>
          </c:dPt>
          <c:dLbls>
            <c:dLbl>
              <c:idx val="1"/>
              <c:layout>
                <c:manualLayout>
                  <c:x val="-0.13959875852280168"/>
                  <c:y val="3.6077306316834638E-2"/>
                </c:manualLayout>
              </c:layout>
              <c:tx>
                <c:rich>
                  <a:bodyPr/>
                  <a:lstStyle/>
                  <a:p>
                    <a:fld id="{060F4AB2-ECB5-44D4-9561-966F012866EB}" type="VALUE">
                      <a:rPr 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52451399489885"/>
                      <c:h val="4.912856854147811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5E8-4E49-A954-5FBBE42C4FF1}"/>
                </c:ext>
              </c:extLst>
            </c:dLbl>
            <c:dLbl>
              <c:idx val="2"/>
              <c:layout>
                <c:manualLayout>
                  <c:x val="0.22453370183113719"/>
                  <c:y val="-0.1437585122180533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29874042338347"/>
                      <c:h val="4.912856854147811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85E8-4E49-A954-5FBBE42C4F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0.39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E8-4E49-A954-5FBBE42C4F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6772998764000255"/>
          <c:y val="0.69740613494776249"/>
          <c:w val="0.51368798270076665"/>
          <c:h val="0.255167081111003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7566678637773542E-4"/>
          <c:y val="0.18427682086614172"/>
          <c:w val="0.99902433321362227"/>
          <c:h val="0.55384448818897636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FA21-4D5F-8DDC-C9C8180E219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FA21-4D5F-8DDC-C9C8180E219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42F7-4E4D-8381-127ED8FADFE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FA21-4D5F-8DDC-C9C8180E2194}"/>
              </c:ext>
            </c:extLst>
          </c:dPt>
          <c:dLbls>
            <c:dLbl>
              <c:idx val="2"/>
              <c:layout>
                <c:manualLayout>
                  <c:x val="4.4967548825324321E-3"/>
                  <c:y val="-0.2492674704724409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99109401280988"/>
                      <c:h val="8.940625000000000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42F7-4E4D-8381-127ED8FADF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F7-4E4D-8381-127ED8FAD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5211184545386428"/>
          <c:y val="0.71417519685039366"/>
          <c:w val="0.53679210061931104"/>
          <c:h val="0.26707480314960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6062368018886347E-2"/>
          <c:y val="0.12202901895011736"/>
          <c:w val="0.93393763198111368"/>
          <c:h val="0.626318403620052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AE15-4C11-8E93-C41EBD0A5E8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7557-4FCA-BCC2-E6A5504235A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7557-4FCA-BCC2-E6A5504235A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AE15-4C11-8E93-C41EBD0A5E80}"/>
              </c:ext>
            </c:extLst>
          </c:dPt>
          <c:dLbls>
            <c:dLbl>
              <c:idx val="1"/>
              <c:layout>
                <c:manualLayout>
                  <c:x val="-0.19152619537580814"/>
                  <c:y val="7.5504754882924255E-2"/>
                </c:manualLayout>
              </c:layout>
              <c:tx>
                <c:rich>
                  <a:bodyPr/>
                  <a:lstStyle/>
                  <a:p>
                    <a:fld id="{3E94FADE-5BCB-47DE-80B6-307DFC2E08CD}" type="VALUE">
                      <a:rPr 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557-4FCA-BCC2-E6A5504235A7}"/>
                </c:ext>
              </c:extLst>
            </c:dLbl>
            <c:dLbl>
              <c:idx val="2"/>
              <c:layout>
                <c:manualLayout>
                  <c:x val="0.2280005296075294"/>
                  <c:y val="-0.1683931140965534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43802133241175"/>
                      <c:h val="5.137482622961891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7557-4FCA-BCC2-E6A5504235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0.31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7-4FCA-BCC2-E6A550423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33061226894188456"/>
          <c:y val="0.67696719327768928"/>
          <c:w val="0.42427566071905443"/>
          <c:h val="0.30516330194679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3105119839292234E-3"/>
          <c:y val="0.14683710629921259"/>
          <c:w val="0.99868948801607083"/>
          <c:h val="0.6609402066929134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FC54-4455-984F-7636AB6690D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FC54-4455-984F-7636AB6690D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5336-46AB-B3E4-B7C81900E42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FC54-4455-984F-7636AB6690D2}"/>
              </c:ext>
            </c:extLst>
          </c:dPt>
          <c:dLbls>
            <c:dLbl>
              <c:idx val="2"/>
              <c:layout>
                <c:manualLayout>
                  <c:x val="-1.6785408197275198E-2"/>
                  <c:y val="-0.3050723425196850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7674113307138"/>
                      <c:h val="0.120656250000000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5336-46AB-B3E4-B7C81900E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6-46AB-B3E4-B7C81900E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8246549703094215"/>
          <c:y val="0.72980019685039377"/>
          <c:w val="0.48905932220682963"/>
          <c:h val="0.25144980314960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980888875595019E-2"/>
          <c:y val="0.18144660433070867"/>
          <c:w val="0.89874202011742288"/>
          <c:h val="0.5913462106299213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2532-48E4-B9CC-66022F5D8ED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2532-48E4-B9CC-66022F5D8ED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92EA-44C5-B85E-A1A59DCD51F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2532-48E4-B9CC-66022F5D8ED7}"/>
              </c:ext>
            </c:extLst>
          </c:dPt>
          <c:dLbls>
            <c:dLbl>
              <c:idx val="2"/>
              <c:layout>
                <c:manualLayout>
                  <c:x val="0.23321954611880727"/>
                  <c:y val="-0.1933794291338582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371779204020065"/>
                      <c:h val="5.503124999999999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92EA-44C5-B85E-A1A59DCD51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0.39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EA-44C5-B85E-A1A59DCD5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32554101894661269"/>
          <c:y val="0.72980019685039366"/>
          <c:w val="0.46084436131028178"/>
          <c:h val="0.25144980314960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Конец года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8426871513695766E-2"/>
          <c:y val="0.12724214665548636"/>
          <c:w val="0.8260089547709486"/>
          <c:h val="0.60977743665755391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07A4-4B31-BFD0-32E886700B6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4-07A4-4B31-BFD0-32E886700B6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7A4-4B31-BFD0-32E886700B6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30FA-4C9C-BD86-9BDD16869805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7A4-4B31-BFD0-32E886700B6F}"/>
                </c:ext>
              </c:extLst>
            </c:dLbl>
            <c:dLbl>
              <c:idx val="1"/>
              <c:layout>
                <c:manualLayout>
                  <c:x val="-0.18129306627888603"/>
                  <c:y val="5.1610853880085308E-2"/>
                </c:manualLayout>
              </c:layout>
              <c:tx>
                <c:rich>
                  <a:bodyPr/>
                  <a:lstStyle/>
                  <a:p>
                    <a:fld id="{BAB2278D-5534-4E14-A26B-8FF7962F3179}" type="VALUE">
                      <a:rPr lang="en-US">
                        <a:solidFill>
                          <a:schemeClr val="tx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07A4-4B31-BFD0-32E886700B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353255503434244"/>
                      <c:h val="8.217205664017129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07A4-4B31-BFD0-32E886700B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 formatCode="General">
                  <c:v>0</c:v>
                </c:pt>
                <c:pt idx="1">
                  <c:v>0.39</c:v>
                </c:pt>
                <c:pt idx="2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A4-4B31-BFD0-32E886700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5957744428779439"/>
          <c:y val="0.6950456683264149"/>
          <c:w val="0.53089663427812039"/>
          <c:h val="0.288920759646234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7B8F-4AD4-8370-8D8F4371DC8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7B8F-4AD4-8370-8D8F4371DC8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ABA2-4A9B-8B22-22532B43D01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7B8F-4AD4-8370-8D8F4371DC87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59621753048448878"/>
                      <c:h val="0.164782124296756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BA2-4A9B-8B22-22532B43D0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A2-4A9B-8B22-22532B43D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1863880852098705"/>
          <c:y val="0.70486440290916141"/>
          <c:w val="0.56354233078257043"/>
          <c:h val="0.29513559709083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>
                <a:latin typeface="Times New Roman" pitchFamily="18" charset="0"/>
                <a:cs typeface="Times New Roman" pitchFamily="18" charset="0"/>
              </a:rPr>
              <a:t>Начало года</a:t>
            </a:r>
          </a:p>
        </c:rich>
      </c:tx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5.4731071440910821E-2"/>
          <c:y val="0.19969711004695087"/>
          <c:w val="0.85283803368835276"/>
          <c:h val="0.75296619804973319"/>
        </c:manualLayout>
      </c:layout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</c:plotArea>
    <c:plotVisOnly val="1"/>
    <c:dispBlanksAs val="gap"/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года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209296472727521"/>
          <c:y val="0.17506781584537986"/>
          <c:w val="0.89790703527272475"/>
          <c:h val="0.65666606405137395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54AE-4FEE-B8A2-EACB2A72239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54AE-4FEE-B8A2-EACB2A72239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BA7A-4610-AB3C-10CF2A0344A0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54AE-4FEE-B8A2-EACB2A722399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AE-4FEE-B8A2-EACB2A722399}"/>
                </c:ext>
              </c:extLst>
            </c:dLbl>
            <c:dLbl>
              <c:idx val="2"/>
              <c:layout>
                <c:manualLayout>
                  <c:x val="3.9249323771281652E-2"/>
                  <c:y val="-0.267775709471382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94986498098851"/>
                      <c:h val="0.15981119688047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A7A-4610-AB3C-10CF2A0344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A-4610-AB3C-10CF2A034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1094311516407473E-2"/>
          <c:y val="0.73602336186673489"/>
          <c:w val="0.56857713088568396"/>
          <c:h val="0.24749842570358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804043559430216E-2"/>
          <c:y val="0.15817721560594838"/>
          <c:w val="0.88242047179942973"/>
          <c:h val="0.62178804607325489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301-4A99-AD83-77B49117ED3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40A-47DA-A76F-7418C121D00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040A-47DA-A76F-7418C121D00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0301-4A99-AD83-77B49117ED34}"/>
              </c:ext>
            </c:extLst>
          </c:dPt>
          <c:dLbls>
            <c:delete val="1"/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0.46</c:v>
                </c:pt>
                <c:pt idx="2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0A-47DA-A76F-7418C121D009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11808519097006651"/>
          <c:y val="0.74989706523469135"/>
          <c:w val="0.50526357637822372"/>
          <c:h val="0.250094068535523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Начало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75D9-43B3-B4AE-671A98AAF8F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2-8176-4DEA-9C00-98E83578361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176-4DEA-9C00-98E83578361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75D9-43B3-B4AE-671A98AAF8F6}"/>
              </c:ext>
            </c:extLst>
          </c:dPt>
          <c:dLbls>
            <c:dLbl>
              <c:idx val="1"/>
              <c:layout>
                <c:manualLayout>
                  <c:x val="-9.3043463149297095E-2"/>
                  <c:y val="8.61034179623780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691048433345499"/>
                      <c:h val="8.56511974859936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176-4DEA-9C00-98E83578361F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4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4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84407312792172"/>
                      <c:h val="0.10288208717549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8176-4DEA-9C00-98E8357836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2" formatCode="0%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6-4DEA-9C00-98E835783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5497481231426927"/>
          <c:y val="0.71411818439926422"/>
          <c:w val="0.54522650452704935"/>
          <c:h val="0.269084740143511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1802336428027911"/>
          <c:y val="8.016786013675248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6604947458668116E-2"/>
          <c:y val="0.12018508886218029"/>
          <c:w val="0.90682377010520843"/>
          <c:h val="0.64968391559187022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Конец года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5D5F-4E50-B5C1-C60A33476CF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2-7E63-4249-B460-7B17F2024F2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7E63-4249-B460-7B17F2024F2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1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1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5D5F-4E50-B5C1-C60A33476CFE}"/>
              </c:ext>
            </c:extLst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sz="2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54%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E63-4249-B460-7B17F2024F2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aseline="0" dirty="0"/>
                      <a:t>
</a:t>
                    </a:r>
                    <a:r>
                      <a:rPr lang="en-US" sz="24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46%</a:t>
                    </a:r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E63-4249-B460-7B17F2024F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1">
                  <c:v>0.54</c:v>
                </c:pt>
                <c:pt idx="2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63-4249-B460-7B17F2024F22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9888319536822955"/>
          <c:y val="0.69679463224624871"/>
          <c:w val="0.41554423722311778"/>
          <c:h val="0.255104651671699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0.34146</cdr:x>
      <cdr:y>0.30357</cdr:y>
    </cdr:from>
    <cdr:to>
      <cdr:x>0.70732</cdr:x>
      <cdr:y>0.42857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317F423-80E4-4E97-8C58-4F0BE710DBE0}"/>
            </a:ext>
          </a:extLst>
        </cdr:cNvPr>
        <cdr:cNvSpPr txBox="1"/>
      </cdr:nvSpPr>
      <cdr:spPr>
        <a:xfrm xmlns:a="http://schemas.openxmlformats.org/drawingml/2006/main">
          <a:off x="1008112" y="1224136"/>
          <a:ext cx="1080120" cy="5040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100%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0.59615</cdr:x>
      <cdr:y>0.25194</cdr:y>
    </cdr:from>
    <cdr:to>
      <cdr:x>0.82692</cdr:x>
      <cdr:y>0.35825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E3D28C0-07C8-412D-8FA3-8C1F264C61AE}"/>
            </a:ext>
          </a:extLst>
        </cdr:cNvPr>
        <cdr:cNvSpPr txBox="1"/>
      </cdr:nvSpPr>
      <cdr:spPr>
        <a:xfrm xmlns:a="http://schemas.openxmlformats.org/drawingml/2006/main">
          <a:off x="2232248" y="1023888"/>
          <a:ext cx="864096" cy="43204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39%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0.40165</cdr:x>
      <cdr:y>0.43942</cdr:y>
    </cdr:from>
    <cdr:to>
      <cdr:x>0.74306</cdr:x>
      <cdr:y>0.51728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BDF58C5-A7F7-48D1-926E-47FC901297D1}"/>
            </a:ext>
          </a:extLst>
        </cdr:cNvPr>
        <cdr:cNvSpPr txBox="1"/>
      </cdr:nvSpPr>
      <cdr:spPr>
        <a:xfrm xmlns:a="http://schemas.openxmlformats.org/drawingml/2006/main">
          <a:off x="1440160" y="2032000"/>
          <a:ext cx="1224136" cy="3600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100%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0.2549</cdr:x>
      <cdr:y>0.35825</cdr:y>
    </cdr:from>
    <cdr:to>
      <cdr:x>0.52941</cdr:x>
      <cdr:y>0.44684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E840F5DF-4668-4D63-8342-866F1BE7FBA4}"/>
            </a:ext>
          </a:extLst>
        </cdr:cNvPr>
        <cdr:cNvSpPr txBox="1"/>
      </cdr:nvSpPr>
      <cdr:spPr>
        <a:xfrm xmlns:a="http://schemas.openxmlformats.org/drawingml/2006/main">
          <a:off x="936104" y="1455936"/>
          <a:ext cx="1008112" cy="3600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54%</a:t>
          </a:r>
        </a:p>
      </cdr:txBody>
    </cdr:sp>
  </cdr:relSizeAnchor>
  <cdr:relSizeAnchor xmlns:cdr="http://schemas.openxmlformats.org/drawingml/2006/chartDrawing">
    <cdr:from>
      <cdr:x>0.56863</cdr:x>
      <cdr:y>0.41141</cdr:y>
    </cdr:from>
    <cdr:to>
      <cdr:x>0.82353</cdr:x>
      <cdr:y>0.5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AB8E0F63-3972-48DA-A506-66135F2C4218}"/>
            </a:ext>
          </a:extLst>
        </cdr:cNvPr>
        <cdr:cNvSpPr txBox="1"/>
      </cdr:nvSpPr>
      <cdr:spPr>
        <a:xfrm xmlns:a="http://schemas.openxmlformats.org/drawingml/2006/main">
          <a:off x="2088232" y="1671960"/>
          <a:ext cx="936104" cy="3600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46%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6287" y="0"/>
            <a:ext cx="9329492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39752" y="836713"/>
            <a:ext cx="6552728" cy="1008111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Итоги освоения АОП ДО детьми старшей  группы №4</a:t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«Говорящий сверчок»</a:t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39752" y="2420888"/>
            <a:ext cx="6408712" cy="352839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Состав группы: 14 человек: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11 - ЗПР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 – ЗПР с особенностями РАС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 – интеллектуальные нарушения</a:t>
            </a:r>
            <a:b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ru-RU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Обследовано:  13 человек</a:t>
            </a: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67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332657"/>
            <a:ext cx="7715200" cy="864095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Участие воспитанников старшей группы №4 «Говорящий сверчок» в конкурсах: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7920880" cy="4857403"/>
          </a:xfrm>
        </p:spPr>
        <p:txBody>
          <a:bodyPr>
            <a:normAutofit/>
          </a:bodyPr>
          <a:lstStyle/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Международная игра-конкурс «Астра»;</a:t>
            </a:r>
          </a:p>
          <a:p>
            <a:pPr algn="just"/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Конкурс чтецов (на уровне ДОУ);</a:t>
            </a:r>
          </a:p>
          <a:p>
            <a:pPr algn="just"/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Региональная викторина обучающихся дошкольных образовательных организаций «ВЯТСКИЙ КРАЙ – ЛЮБИМЫЙ КРАЙ»;</a:t>
            </a:r>
          </a:p>
          <a:p>
            <a:pPr algn="just"/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Шашечный турнир ( на уровне ДОУ)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29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090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Мероприятия, проведенные с родителями старшей  группы № 4 «Говорящий сверчок»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11027"/>
            <a:ext cx="8856984" cy="5642310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sz="8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Детско-родительский проект 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«Сказки народов России» 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2. Практикум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«Сказки Фиолетового леса»;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3. Педагогическая лаборатория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«По лабиринтам игр В. В. </a:t>
            </a:r>
            <a:r>
              <a:rPr lang="ru-RU" sz="96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Воскобовича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4. Консультация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«Правила выполнения домашних заданий»;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5. Презентация рабочей тетради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«По тропинкам Фиолетового леса»;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6. Консультация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«Цифры с характером. Как подружить ребенка с математикой через игру»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7. Консультация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«Азбука в ладошках: как подружить ребенка с буквами без слез»;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9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8. Практикум 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96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Нейроклавесы</a:t>
            </a:r>
            <a:r>
              <a:rPr lang="ru-RU" sz="9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от «А» до «Я»: играем, запоминаем, говорим».</a:t>
            </a:r>
          </a:p>
          <a:p>
            <a:pPr marL="0" lvl="0" indent="0" algn="just">
              <a:lnSpc>
                <a:spcPct val="170000"/>
              </a:lnSpc>
              <a:buNone/>
            </a:pPr>
            <a:endParaRPr lang="ru-RU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lnSpc>
                <a:spcPct val="170000"/>
              </a:lnSpc>
              <a:buNone/>
            </a:pP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80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548680"/>
            <a:ext cx="5904656" cy="1656184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Результаты мониторинга </a:t>
            </a: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Речевое развитие</a:t>
            </a: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Звукопроизношение</a:t>
            </a:r>
            <a:br>
              <a:rPr lang="ru-RU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0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6DB4CDFF-0A24-4E81-BD41-BD642D0D3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377231"/>
              </p:ext>
            </p:extLst>
          </p:nvPr>
        </p:nvGraphicFramePr>
        <p:xfrm>
          <a:off x="683568" y="1916832"/>
          <a:ext cx="3384376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C8E4DF09-61F0-4ACC-87CB-68CDC3131E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2132611"/>
              </p:ext>
            </p:extLst>
          </p:nvPr>
        </p:nvGraphicFramePr>
        <p:xfrm>
          <a:off x="4572000" y="1916832"/>
          <a:ext cx="3600400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31B72C-3498-4E55-866E-BFB8949A2A90}"/>
              </a:ext>
            </a:extLst>
          </p:cNvPr>
          <p:cNvSpPr txBox="1"/>
          <p:nvPr/>
        </p:nvSpPr>
        <p:spPr>
          <a:xfrm>
            <a:off x="2123728" y="5733256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39 %</a:t>
            </a:r>
          </a:p>
        </p:txBody>
      </p:sp>
    </p:spTree>
    <p:extLst>
      <p:ext uri="{BB962C8B-B14F-4D97-AF65-F5344CB8AC3E}">
        <p14:creationId xmlns:p14="http://schemas.microsoft.com/office/powerpoint/2010/main" val="242531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7128792" cy="796950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Фонематическое восприятие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CDFEF77B-F28F-4F08-9C00-8BB79DE78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540796"/>
              </p:ext>
            </p:extLst>
          </p:nvPr>
        </p:nvGraphicFramePr>
        <p:xfrm>
          <a:off x="539552" y="1397000"/>
          <a:ext cx="3528392" cy="419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1980D24-58CC-4A32-8219-00FBC9C2B2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537608"/>
              </p:ext>
            </p:extLst>
          </p:nvPr>
        </p:nvGraphicFramePr>
        <p:xfrm>
          <a:off x="4607496" y="1397000"/>
          <a:ext cx="3744416" cy="419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BAF0849-C705-411F-9F5C-0B81F7FED7EC}"/>
              </a:ext>
            </a:extLst>
          </p:cNvPr>
          <p:cNvSpPr txBox="1"/>
          <p:nvPr/>
        </p:nvSpPr>
        <p:spPr>
          <a:xfrm>
            <a:off x="2483768" y="594928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31%</a:t>
            </a:r>
          </a:p>
        </p:txBody>
      </p:sp>
    </p:spTree>
    <p:extLst>
      <p:ext uri="{BB962C8B-B14F-4D97-AF65-F5344CB8AC3E}">
        <p14:creationId xmlns:p14="http://schemas.microsoft.com/office/powerpoint/2010/main" val="42466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611" y="4503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Звуковой анализ и синтез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3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05EF6945-3723-45D1-991F-62C66EE547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0918144"/>
              </p:ext>
            </p:extLst>
          </p:nvPr>
        </p:nvGraphicFramePr>
        <p:xfrm>
          <a:off x="755576" y="1397000"/>
          <a:ext cx="302433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998BD9D-E813-4CF0-AC3F-985185C659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9692452"/>
              </p:ext>
            </p:extLst>
          </p:nvPr>
        </p:nvGraphicFramePr>
        <p:xfrm>
          <a:off x="4788024" y="1397000"/>
          <a:ext cx="3456384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74C2A1F-3975-4CFD-8E11-A8C6C9074E33}"/>
              </a:ext>
            </a:extLst>
          </p:cNvPr>
          <p:cNvSpPr txBox="1"/>
          <p:nvPr/>
        </p:nvSpPr>
        <p:spPr>
          <a:xfrm>
            <a:off x="2843808" y="5517232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54%</a:t>
            </a:r>
          </a:p>
        </p:txBody>
      </p:sp>
    </p:spTree>
    <p:extLst>
      <p:ext uri="{BB962C8B-B14F-4D97-AF65-F5344CB8AC3E}">
        <p14:creationId xmlns:p14="http://schemas.microsoft.com/office/powerpoint/2010/main" val="138564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71400"/>
            <a:ext cx="9144000" cy="70294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Слоговая структура слова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F1BC801B-EDEC-4878-BD56-F395E17732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818846"/>
              </p:ext>
            </p:extLst>
          </p:nvPr>
        </p:nvGraphicFramePr>
        <p:xfrm>
          <a:off x="755576" y="1397000"/>
          <a:ext cx="2808312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EB31CC0-29F7-4A32-8280-88B3BC5043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524860"/>
              </p:ext>
            </p:extLst>
          </p:nvPr>
        </p:nvGraphicFramePr>
        <p:xfrm>
          <a:off x="4427984" y="1397000"/>
          <a:ext cx="3192016" cy="383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8581B99-DC79-4109-BEDF-0A729BF11F16}"/>
              </a:ext>
            </a:extLst>
          </p:cNvPr>
          <p:cNvSpPr txBox="1"/>
          <p:nvPr/>
        </p:nvSpPr>
        <p:spPr>
          <a:xfrm>
            <a:off x="2339752" y="5805264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-31%</a:t>
            </a:r>
          </a:p>
        </p:txBody>
      </p:sp>
    </p:spTree>
    <p:extLst>
      <p:ext uri="{BB962C8B-B14F-4D97-AF65-F5344CB8AC3E}">
        <p14:creationId xmlns:p14="http://schemas.microsoft.com/office/powerpoint/2010/main" val="286446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Лексика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4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FC3D9428-E0D7-41B2-9FA4-A39114FF0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511745"/>
              </p:ext>
            </p:extLst>
          </p:nvPr>
        </p:nvGraphicFramePr>
        <p:xfrm>
          <a:off x="755576" y="1397000"/>
          <a:ext cx="3096344" cy="426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DC6EB240-D08D-46D9-9069-B4DE0AF444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252868"/>
              </p:ext>
            </p:extLst>
          </p:nvPr>
        </p:nvGraphicFramePr>
        <p:xfrm>
          <a:off x="4860032" y="1395728"/>
          <a:ext cx="3384376" cy="4264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78A0FA7-D59C-412B-8DD2-FF80B178B0BB}"/>
              </a:ext>
            </a:extLst>
          </p:cNvPr>
          <p:cNvSpPr txBox="1"/>
          <p:nvPr/>
        </p:nvSpPr>
        <p:spPr>
          <a:xfrm>
            <a:off x="2411760" y="5877272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39%</a:t>
            </a:r>
          </a:p>
        </p:txBody>
      </p:sp>
    </p:spTree>
    <p:extLst>
      <p:ext uri="{BB962C8B-B14F-4D97-AF65-F5344CB8AC3E}">
        <p14:creationId xmlns:p14="http://schemas.microsoft.com/office/powerpoint/2010/main" val="369152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296144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Грамматический строй речи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2ED0A4A-817E-4E86-9D32-28CC9A988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533197"/>
              </p:ext>
            </p:extLst>
          </p:nvPr>
        </p:nvGraphicFramePr>
        <p:xfrm>
          <a:off x="755576" y="1397000"/>
          <a:ext cx="3240360" cy="4480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556D0EA4-BF36-4F8B-B63C-92D59711C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5883772"/>
              </p:ext>
            </p:extLst>
          </p:nvPr>
        </p:nvGraphicFramePr>
        <p:xfrm>
          <a:off x="4453136" y="1397000"/>
          <a:ext cx="3575248" cy="455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DC69848-6864-4576-85F3-8EA30CB18618}"/>
              </a:ext>
            </a:extLst>
          </p:cNvPr>
          <p:cNvSpPr txBox="1"/>
          <p:nvPr/>
        </p:nvSpPr>
        <p:spPr>
          <a:xfrm>
            <a:off x="2771800" y="580526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39 %</a:t>
            </a:r>
          </a:p>
        </p:txBody>
      </p:sp>
    </p:spTree>
    <p:extLst>
      <p:ext uri="{BB962C8B-B14F-4D97-AF65-F5344CB8AC3E}">
        <p14:creationId xmlns:p14="http://schemas.microsoft.com/office/powerpoint/2010/main" val="179000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296144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Связная речь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7CCC767-F6E3-4C94-89C1-B77669B907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360682"/>
              </p:ext>
            </p:extLst>
          </p:nvPr>
        </p:nvGraphicFramePr>
        <p:xfrm>
          <a:off x="827584" y="1397000"/>
          <a:ext cx="3096344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B9F96188-4009-4780-ABC3-061B5C2168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6091468"/>
              </p:ext>
            </p:extLst>
          </p:nvPr>
        </p:nvGraphicFramePr>
        <p:xfrm>
          <a:off x="4751512" y="1397000"/>
          <a:ext cx="3564904" cy="426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820A37D-BE7A-41EE-B280-7994A6E12822}"/>
              </a:ext>
            </a:extLst>
          </p:cNvPr>
          <p:cNvSpPr txBox="1"/>
          <p:nvPr/>
        </p:nvSpPr>
        <p:spPr>
          <a:xfrm>
            <a:off x="2627784" y="5661248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31%</a:t>
            </a:r>
          </a:p>
        </p:txBody>
      </p:sp>
    </p:spTree>
    <p:extLst>
      <p:ext uri="{BB962C8B-B14F-4D97-AF65-F5344CB8AC3E}">
        <p14:creationId xmlns:p14="http://schemas.microsoft.com/office/powerpoint/2010/main" val="145565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36815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Речевое развитие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BB53B8F8-6C2B-4A91-AC5C-D072ADCE52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017435"/>
              </p:ext>
            </p:extLst>
          </p:nvPr>
        </p:nvGraphicFramePr>
        <p:xfrm>
          <a:off x="899592" y="1397000"/>
          <a:ext cx="3528392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94CA0546-BE71-44CD-9621-70EA9AE306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048463"/>
              </p:ext>
            </p:extLst>
          </p:nvPr>
        </p:nvGraphicFramePr>
        <p:xfrm>
          <a:off x="4499992" y="1397000"/>
          <a:ext cx="374441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4C072A0-DA45-4885-BE45-1EF1236C9719}"/>
              </a:ext>
            </a:extLst>
          </p:cNvPr>
          <p:cNvSpPr txBox="1"/>
          <p:nvPr/>
        </p:nvSpPr>
        <p:spPr>
          <a:xfrm>
            <a:off x="2195736" y="5661248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39%</a:t>
            </a:r>
          </a:p>
        </p:txBody>
      </p:sp>
    </p:spTree>
    <p:extLst>
      <p:ext uri="{BB962C8B-B14F-4D97-AF65-F5344CB8AC3E}">
        <p14:creationId xmlns:p14="http://schemas.microsoft.com/office/powerpoint/2010/main" val="121399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36815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Познавательное  развитие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3A347BE-84CF-474E-B046-D11E0D1868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688595"/>
              </p:ext>
            </p:extLst>
          </p:nvPr>
        </p:nvGraphicFramePr>
        <p:xfrm>
          <a:off x="4798370" y="1340768"/>
          <a:ext cx="3806078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EC79B42-F48B-4FFD-A4F9-3277D58E6572}"/>
              </a:ext>
            </a:extLst>
          </p:cNvPr>
          <p:cNvSpPr txBox="1"/>
          <p:nvPr/>
        </p:nvSpPr>
        <p:spPr>
          <a:xfrm>
            <a:off x="1979712" y="63093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39%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AF765AC0-0581-4B71-B789-4A8CB81F7F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891168"/>
              </p:ext>
            </p:extLst>
          </p:nvPr>
        </p:nvGraphicFramePr>
        <p:xfrm>
          <a:off x="755576" y="1397000"/>
          <a:ext cx="3585594" cy="462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8824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Социально-коммуникативное развитие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262422803"/>
              </p:ext>
            </p:extLst>
          </p:nvPr>
        </p:nvGraphicFramePr>
        <p:xfrm>
          <a:off x="467544" y="1988840"/>
          <a:ext cx="4471392" cy="24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27E879D7-B74C-4F9B-B0F1-0AB5645918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1010559"/>
              </p:ext>
            </p:extLst>
          </p:nvPr>
        </p:nvGraphicFramePr>
        <p:xfrm>
          <a:off x="611560" y="1397000"/>
          <a:ext cx="3528392" cy="462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BDD3317-FC3A-43BA-82C4-5D49FE031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111223"/>
              </p:ext>
            </p:extLst>
          </p:nvPr>
        </p:nvGraphicFramePr>
        <p:xfrm>
          <a:off x="4716016" y="1397000"/>
          <a:ext cx="3672408" cy="462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7D982EB-BAE5-4616-B00B-BC11E3ED57D2}"/>
              </a:ext>
            </a:extLst>
          </p:cNvPr>
          <p:cNvSpPr txBox="1"/>
          <p:nvPr/>
        </p:nvSpPr>
        <p:spPr>
          <a:xfrm>
            <a:off x="2051720" y="630932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- 46%</a:t>
            </a:r>
          </a:p>
        </p:txBody>
      </p:sp>
    </p:spTree>
    <p:extLst>
      <p:ext uri="{BB962C8B-B14F-4D97-AF65-F5344CB8AC3E}">
        <p14:creationId xmlns:p14="http://schemas.microsoft.com/office/powerpoint/2010/main" val="78384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днс\Downloads\Детский сад №31  фон - 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36815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Художественно-эстетическое развитие</a:t>
            </a: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B2FD2E57-7511-40F7-9041-9E776B4283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956867"/>
              </p:ext>
            </p:extLst>
          </p:nvPr>
        </p:nvGraphicFramePr>
        <p:xfrm>
          <a:off x="457200" y="1124744"/>
          <a:ext cx="3682752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73804231-544B-48CD-B0F7-951A99E4E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921725"/>
              </p:ext>
            </p:extLst>
          </p:nvPr>
        </p:nvGraphicFramePr>
        <p:xfrm>
          <a:off x="4427984" y="1131790"/>
          <a:ext cx="3816424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4AD585-58E9-42DD-B9D8-247532A26382}"/>
              </a:ext>
            </a:extLst>
          </p:cNvPr>
          <p:cNvSpPr txBox="1"/>
          <p:nvPr/>
        </p:nvSpPr>
        <p:spPr>
          <a:xfrm>
            <a:off x="1979712" y="573325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– 54 %</a:t>
            </a:r>
          </a:p>
        </p:txBody>
      </p:sp>
    </p:spTree>
    <p:extLst>
      <p:ext uri="{BB962C8B-B14F-4D97-AF65-F5344CB8AC3E}">
        <p14:creationId xmlns:p14="http://schemas.microsoft.com/office/powerpoint/2010/main" val="29936403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402</Words>
  <Application>Microsoft Office PowerPoint</Application>
  <PresentationFormat>Экран (4:3)</PresentationFormat>
  <Paragraphs>99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Тема Office</vt:lpstr>
      <vt:lpstr>Итоги освоения АОП ДО детьми старшей  группы №4  «Говорящий сверчок» </vt:lpstr>
      <vt:lpstr>Участие воспитанников старшей группы №4 «Говорящий сверчок» в конкурсах:</vt:lpstr>
      <vt:lpstr>Мероприятия, проведенные с родителями старшей  группы № 4 «Говорящий сверчок»</vt:lpstr>
      <vt:lpstr>Результаты мониторинга  Речевое развитие  Звукопроизношение  </vt:lpstr>
      <vt:lpstr>  Фонематическое восприятие  </vt:lpstr>
      <vt:lpstr>Звуковой анализ и синтез  </vt:lpstr>
      <vt:lpstr>Слоговая структура слова  </vt:lpstr>
      <vt:lpstr>Лексика  </vt:lpstr>
      <vt:lpstr>Грамматический строй речи  </vt:lpstr>
      <vt:lpstr>Связная речь  </vt:lpstr>
      <vt:lpstr>Речевое развитие  </vt:lpstr>
      <vt:lpstr>Познавательное  развитие  </vt:lpstr>
      <vt:lpstr>Социально-коммуникативное развитие  </vt:lpstr>
      <vt:lpstr>Художественно-эстетическое развитие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Летне-оздоровительная работа 2020 год</dc:title>
  <dc:creator>DNS</dc:creator>
  <cp:lastModifiedBy>Valentin</cp:lastModifiedBy>
  <cp:revision>155</cp:revision>
  <dcterms:created xsi:type="dcterms:W3CDTF">2020-08-11T10:28:23Z</dcterms:created>
  <dcterms:modified xsi:type="dcterms:W3CDTF">2026-05-19T19:02:31Z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4944884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</Properties>
</file>